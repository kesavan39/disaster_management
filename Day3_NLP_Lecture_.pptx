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81" r:id="rId5"/>
    <p:sldId id="290" r:id="rId6"/>
    <p:sldId id="262" r:id="rId7"/>
    <p:sldId id="292" r:id="rId8"/>
    <p:sldId id="287" r:id="rId9"/>
    <p:sldId id="288" r:id="rId10"/>
    <p:sldId id="284" r:id="rId11"/>
    <p:sldId id="283" r:id="rId12"/>
    <p:sldId id="271" r:id="rId13"/>
    <p:sldId id="272" r:id="rId14"/>
    <p:sldId id="273" r:id="rId15"/>
    <p:sldId id="274" r:id="rId16"/>
    <p:sldId id="275" r:id="rId17"/>
    <p:sldId id="286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example rows left to right before asking the closing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duplicate row, the typo-laden slang, and the blank entry — let students name the problems before you label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back to slide 16's messy text examples — this role fixes exactly what students just flagged.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argue both sides — 'sarcasm' vs 'real emergency' — before naming the role.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where 'training' finally gets a face — the NLP Engineer, not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analogy: memorizing exam answers vs actually understanding the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solidFill>
            <a:srgbClr val="1E3A5F"/>
          </a:solidFill>
        </p:spPr>
      </p:sp>
      <p:sp>
        <p:nvSpPr>
          <p:cNvPr id="3" name="Text 1"/>
          <p:cNvSpPr txBox="1"/>
          <p:nvPr/>
        </p:nvSpPr>
        <p:spPr>
          <a:xfrm>
            <a:off x="10607040" y="50292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0607040" y="502920"/>
            <a:ext cx="914400" cy="914400"/>
          </a:xfrm>
          <a:prstGeom prst="ellipse">
            <a:avLst/>
          </a:prstGeom>
          <a:ln w="19050">
            <a:solidFill>
              <a:srgbClr val="FFB6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96012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NATURAL LANGUAGE </a:t>
            </a:r>
            <a:r>
              <a:rPr lang="en-US" sz="4000" b="1" dirty="0">
                <a:solidFill>
                  <a:srgbClr val="FFB6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61188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EB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Day 3 · Disaster Response Coordination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8, 2026, 08_02_2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4A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REAL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a Human Read Thousands of Messages, 24/7?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</p:spPr>
      </p:sp>
      <p:sp>
        <p:nvSpPr>
          <p:cNvPr id="5" name="Shape 3"/>
          <p:cNvSpPr/>
          <p:nvPr/>
        </p:nvSpPr>
        <p:spPr>
          <a:xfrm>
            <a:off x="800100" y="1796796"/>
            <a:ext cx="502920" cy="50292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6" name="Text 4"/>
          <p:cNvSpPr/>
          <p:nvPr/>
        </p:nvSpPr>
        <p:spPr>
          <a:xfrm>
            <a:off x="800100" y="179679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Thousands of messages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17320" y="2039112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arrive every hour across every channel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800100" y="2802636"/>
            <a:ext cx="502920" cy="50292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11" name="Text 9"/>
          <p:cNvSpPr/>
          <p:nvPr/>
        </p:nvSpPr>
        <p:spPr>
          <a:xfrm>
            <a:off x="800100" y="280263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69748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Multiple channels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417320" y="3044952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SMS, social posts, dispatch logs, helplines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</p:spPr>
      </p:sp>
      <p:sp>
        <p:nvSpPr>
          <p:cNvPr id="15" name="Shape 13"/>
          <p:cNvSpPr/>
          <p:nvPr/>
        </p:nvSpPr>
        <p:spPr>
          <a:xfrm>
            <a:off x="800100" y="3808476"/>
            <a:ext cx="502920" cy="50292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16" name="Text 14"/>
          <p:cNvSpPr/>
          <p:nvPr/>
        </p:nvSpPr>
        <p:spPr>
          <a:xfrm>
            <a:off x="800100" y="380847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⏱️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17320" y="370332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constant stream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17320" y="4050792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pause button during a disaster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5486400" cy="896112"/>
          </a:xfrm>
          <a:prstGeom prst="roundRect">
            <a:avLst>
              <a:gd name="adj" fmla="val 12245"/>
            </a:avLst>
          </a:prstGeom>
          <a:solidFill>
            <a:srgbClr val="FFFFFF"/>
          </a:solidFill>
        </p:spPr>
      </p:sp>
      <p:sp>
        <p:nvSpPr>
          <p:cNvPr id="20" name="Shape 18"/>
          <p:cNvSpPr/>
          <p:nvPr/>
        </p:nvSpPr>
        <p:spPr>
          <a:xfrm>
            <a:off x="800100" y="4814316"/>
            <a:ext cx="502920" cy="502920"/>
          </a:xfrm>
          <a:prstGeom prst="ellipse">
            <a:avLst/>
          </a:prstGeom>
          <a:solidFill>
            <a:srgbClr val="0F3D5C"/>
          </a:solidFill>
        </p:spPr>
      </p:sp>
      <p:sp>
        <p:nvSpPr>
          <p:cNvPr id="21" name="Text 19"/>
          <p:cNvSpPr/>
          <p:nvPr/>
        </p:nvSpPr>
        <p:spPr>
          <a:xfrm>
            <a:off x="800100" y="4814316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17320" y="4709160"/>
            <a:ext cx="4480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Need for instant triage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417320" y="5056632"/>
            <a:ext cx="44805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seconds matter for the critical few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1600200"/>
            <a:ext cx="5303520" cy="3703320"/>
          </a:xfrm>
          <a:prstGeom prst="roundRect">
            <a:avLst>
              <a:gd name="adj" fmla="val 3951"/>
            </a:avLst>
          </a:prstGeom>
          <a:solidFill>
            <a:srgbClr val="081527"/>
          </a:solidFill>
        </p:spPr>
      </p:sp>
      <p:sp>
        <p:nvSpPr>
          <p:cNvPr id="25" name="Text 23"/>
          <p:cNvSpPr/>
          <p:nvPr/>
        </p:nvSpPr>
        <p:spPr>
          <a:xfrm>
            <a:off x="6629400" y="1755648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AEB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INCOMING MESSAGE FEED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9400" y="2103120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16304C"/>
          </a:solidFill>
        </p:spPr>
      </p:sp>
      <p:sp>
        <p:nvSpPr>
          <p:cNvPr id="27" name="Text 25"/>
          <p:cNvSpPr/>
          <p:nvPr/>
        </p:nvSpPr>
        <p:spPr>
          <a:xfrm>
            <a:off x="6812280" y="2103120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Good morning, all quiet here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29400" y="2615184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16304C"/>
          </a:solidFill>
        </p:spPr>
      </p:sp>
      <p:sp>
        <p:nvSpPr>
          <p:cNvPr id="29" name="Text 27"/>
          <p:cNvSpPr/>
          <p:nvPr/>
        </p:nvSpPr>
        <p:spPr>
          <a:xfrm>
            <a:off x="6812280" y="2615184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Class is cancelled today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3127248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16304C"/>
          </a:solidFill>
        </p:spPr>
      </p:sp>
      <p:sp>
        <p:nvSpPr>
          <p:cNvPr id="31" name="Text 29"/>
          <p:cNvSpPr/>
          <p:nvPr/>
        </p:nvSpPr>
        <p:spPr>
          <a:xfrm>
            <a:off x="6812280" y="3127248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Roads are a bit wet near camp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3639312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16304C"/>
          </a:solidFill>
        </p:spPr>
      </p:sp>
      <p:sp>
        <p:nvSpPr>
          <p:cNvPr id="33" name="Text 31"/>
          <p:cNvSpPr/>
          <p:nvPr/>
        </p:nvSpPr>
        <p:spPr>
          <a:xfrm>
            <a:off x="6812280" y="3639312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Where is the relief center?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29400" y="4151376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E63946"/>
          </a:solidFill>
        </p:spPr>
      </p:sp>
      <p:sp>
        <p:nvSpPr>
          <p:cNvPr id="35" name="Text 33"/>
          <p:cNvSpPr/>
          <p:nvPr/>
        </p:nvSpPr>
        <p:spPr>
          <a:xfrm>
            <a:off x="6812280" y="4151376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🚨 HELP! 8 people trapped, water rising, Zone 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4663440"/>
            <a:ext cx="4754880" cy="429768"/>
          </a:xfrm>
          <a:prstGeom prst="roundRect">
            <a:avLst>
              <a:gd name="adj" fmla="val 48936"/>
            </a:avLst>
          </a:prstGeom>
          <a:solidFill>
            <a:srgbClr val="16304C"/>
          </a:solidFill>
        </p:spPr>
      </p:sp>
      <p:sp>
        <p:nvSpPr>
          <p:cNvPr id="37" name="Text 35"/>
          <p:cNvSpPr/>
          <p:nvPr/>
        </p:nvSpPr>
        <p:spPr>
          <a:xfrm>
            <a:off x="6812280" y="4663440"/>
            <a:ext cx="4389120" cy="4297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💬 Can someone confirm the boat schedule?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5532120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081527"/>
          </a:solidFill>
        </p:spPr>
      </p:sp>
      <p:sp>
        <p:nvSpPr>
          <p:cNvPr id="39" name="Text 37"/>
          <p:cNvSpPr/>
          <p:nvPr/>
        </p:nvSpPr>
        <p:spPr>
          <a:xfrm>
            <a:off x="914400" y="5532120"/>
            <a:ext cx="10332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need a system that can read language itself and predict what matters. This is where Natural Language Processing enters the story.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NLP?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</p:spPr>
      </p:sp>
      <p:sp>
        <p:nvSpPr>
          <p:cNvPr id="4" name="Text 2"/>
          <p:cNvSpPr txBox="1"/>
          <p:nvPr/>
        </p:nvSpPr>
        <p:spPr>
          <a:xfrm>
            <a:off x="548640" y="1143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880360" y="11430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0040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</p:spPr>
      </p:sp>
      <p:sp>
        <p:nvSpPr>
          <p:cNvPr id="7" name="Text 5"/>
          <p:cNvSpPr txBox="1"/>
          <p:nvPr/>
        </p:nvSpPr>
        <p:spPr>
          <a:xfrm>
            <a:off x="3200400" y="1143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PATTERNS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32120" y="11430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5216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0F2843"/>
          </a:solidFill>
        </p:spPr>
      </p:sp>
      <p:sp>
        <p:nvSpPr>
          <p:cNvPr id="10" name="Text 8"/>
          <p:cNvSpPr txBox="1"/>
          <p:nvPr/>
        </p:nvSpPr>
        <p:spPr>
          <a:xfrm>
            <a:off x="5852160" y="1143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143000"/>
            <a:ext cx="320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503920" y="114300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FB627"/>
          </a:solidFill>
        </p:spPr>
      </p:sp>
      <p:sp>
        <p:nvSpPr>
          <p:cNvPr id="13" name="Text 11"/>
          <p:cNvSpPr txBox="1"/>
          <p:nvPr/>
        </p:nvSpPr>
        <p:spPr>
          <a:xfrm>
            <a:off x="8503920" y="1143000"/>
            <a:ext cx="23317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14884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 means learning patterns from past messages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make predictions about new ones.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</p:spPr>
      </p:sp>
      <p:sp>
        <p:nvSpPr>
          <p:cNvPr id="16" name="Text 14"/>
          <p:cNvSpPr txBox="1"/>
          <p:nvPr/>
        </p:nvSpPr>
        <p:spPr>
          <a:xfrm>
            <a:off x="777240" y="2880360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“just checking in, all good here”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2880360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</p:spPr>
      </p:sp>
      <p:sp>
        <p:nvSpPr>
          <p:cNvPr id="18" name="Text 16"/>
          <p:cNvSpPr txBox="1"/>
          <p:nvPr/>
        </p:nvSpPr>
        <p:spPr>
          <a:xfrm>
            <a:off x="8046720" y="288036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502152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</p:spPr>
      </p:sp>
      <p:sp>
        <p:nvSpPr>
          <p:cNvPr id="20" name="Text 18"/>
          <p:cNvSpPr txBox="1"/>
          <p:nvPr/>
        </p:nvSpPr>
        <p:spPr>
          <a:xfrm>
            <a:off x="777240" y="350215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“heard sirens, not sure what's happening”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046720" y="3502152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</p:spPr>
      </p:sp>
      <p:sp>
        <p:nvSpPr>
          <p:cNvPr id="22" name="Text 20"/>
          <p:cNvSpPr txBox="1"/>
          <p:nvPr/>
        </p:nvSpPr>
        <p:spPr>
          <a:xfrm>
            <a:off x="8046720" y="3502152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MODERATE 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23944"/>
            <a:ext cx="73152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</p:spPr>
      </p:sp>
      <p:sp>
        <p:nvSpPr>
          <p:cNvPr id="24" name="Text 22"/>
          <p:cNvSpPr txBox="1"/>
          <p:nvPr/>
        </p:nvSpPr>
        <p:spPr>
          <a:xfrm>
            <a:off x="777240" y="4123944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“HELP water rising cant see street sign”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4123944"/>
            <a:ext cx="3017520" cy="502920"/>
          </a:xfrm>
          <a:prstGeom prst="roundRect">
            <a:avLst>
              <a:gd name="adj" fmla="val 14545"/>
            </a:avLst>
          </a:prstGeom>
          <a:solidFill>
            <a:srgbClr val="E63946"/>
          </a:solidFill>
        </p:spPr>
      </p:sp>
      <p:sp>
        <p:nvSpPr>
          <p:cNvPr id="26" name="Text 24"/>
          <p:cNvSpPr txBox="1"/>
          <p:nvPr/>
        </p:nvSpPr>
        <p:spPr>
          <a:xfrm>
            <a:off x="8046720" y="4123944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RISK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55464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081527"/>
          </a:solidFill>
        </p:spPr>
      </p:sp>
      <p:sp>
        <p:nvSpPr>
          <p:cNvPr id="28" name="Text 26"/>
          <p:cNvSpPr txBox="1"/>
          <p:nvPr/>
        </p:nvSpPr>
        <p:spPr>
          <a:xfrm>
            <a:off x="822960" y="4855464"/>
            <a:ext cx="9966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 new message uses words similar to the Severe examples, what should the model predict?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LIVE DEMO — OUR TRAINED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New Emergency Message Incoming...</a:t>
            </a:r>
            <a:endParaRPr lang="en-US" sz="2600" b="1" dirty="0">
              <a:solidFill>
                <a:schemeClr val="tx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554480" y="1691640"/>
            <a:ext cx="9052560" cy="1051560"/>
          </a:xfrm>
          <a:prstGeom prst="roundRect">
            <a:avLst>
              <a:gd name="adj" fmla="val 15652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5" name="Text 3"/>
          <p:cNvSpPr/>
          <p:nvPr/>
        </p:nvSpPr>
        <p:spPr>
          <a:xfrm>
            <a:off x="1920240" y="1691640"/>
            <a:ext cx="832104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         “8 people are trapped in Zone 2. Water is rising rapidly. Send a rescue boat immediately.”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821528" y="2834640"/>
            <a:ext cx="548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AEB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↓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66160" y="3337560"/>
            <a:ext cx="5029200" cy="1051560"/>
          </a:xfrm>
          <a:prstGeom prst="roundRect">
            <a:avLst>
              <a:gd name="adj" fmla="val 17391"/>
            </a:avLst>
          </a:prstGeom>
          <a:solidFill>
            <a:srgbClr val="FFB627"/>
          </a:solidFill>
        </p:spPr>
      </p:sp>
      <p:sp>
        <p:nvSpPr>
          <p:cNvPr id="8" name="Text 6"/>
          <p:cNvSpPr/>
          <p:nvPr/>
        </p:nvSpPr>
        <p:spPr>
          <a:xfrm>
            <a:off x="3566160" y="3337560"/>
            <a:ext cx="5029200" cy="1051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PREDICTED URGENCY:  HIGH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9, 2026, 07_12_43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281305" y="128905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Types of NLP Tasks</a:t>
            </a:r>
            <a:endParaRPr lang="en-US" sz="2800" dirty="0"/>
          </a:p>
        </p:txBody>
      </p:sp>
      <p:pic>
        <p:nvPicPr>
          <p:cNvPr id="3" name="Picture 2" descr="ChatGPT Image Sep 9, 2026, 07_27_24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3600"/>
            <a:ext cx="12192000" cy="5992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ChatGPT Image Sep 9, 2026, 07_01_23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200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Sep 9, 2026, 12_56_40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7425"/>
            <a:ext cx="12192000" cy="5870575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11785" y="17653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NER — Core Building Blocks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Can We Train a Model on Messy Text?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“help help oak street water”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600200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(duplicate)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30552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“help help oak street water”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130552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Duplicate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60904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“wtr risin cnt c strt sgn hlp”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2660904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(typos/slang)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91256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 ” — no text, blank entry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9125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Missing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141732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081527"/>
          </a:solidFill>
        </p:spPr>
      </p:sp>
      <p:sp>
        <p:nvSpPr>
          <p:cNvPr id="14" name="Text 12"/>
          <p:cNvSpPr txBox="1"/>
          <p:nvPr/>
        </p:nvSpPr>
        <p:spPr>
          <a:xfrm>
            <a:off x="6949440" y="1417320"/>
            <a:ext cx="44805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directly train an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model using messy text?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675120" y="283464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E63946"/>
          </a:solidFill>
        </p:spPr>
      </p:sp>
      <p:sp>
        <p:nvSpPr>
          <p:cNvPr id="16" name="Text 14"/>
          <p:cNvSpPr txBox="1"/>
          <p:nvPr/>
        </p:nvSpPr>
        <p:spPr>
          <a:xfrm>
            <a:off x="6675120" y="2834640"/>
            <a:ext cx="49377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</p:spPr>
      </p:sp>
      <p:sp>
        <p:nvSpPr>
          <p:cNvPr id="18" name="Text 16"/>
          <p:cNvSpPr txBox="1"/>
          <p:nvPr/>
        </p:nvSpPr>
        <p:spPr>
          <a:xfrm>
            <a:off x="822960" y="402336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NLP system needs someone to clean and annotate the text first.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777240" cy="777240"/>
          </a:xfrm>
          <a:prstGeom prst="ellipse">
            <a:avLst/>
          </a:prstGeom>
          <a:solidFill>
            <a:srgbClr val="081527"/>
          </a:solidFill>
        </p:spPr>
      </p:sp>
      <p:sp>
        <p:nvSpPr>
          <p:cNvPr id="4" name="Text 2"/>
          <p:cNvSpPr txBox="1"/>
          <p:nvPr/>
        </p:nvSpPr>
        <p:spPr>
          <a:xfrm>
            <a:off x="548640" y="502920"/>
            <a:ext cx="7772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7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🧹</a:t>
            </a:r>
            <a:endParaRPr lang="en-US" sz="187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594360"/>
            <a:ext cx="7315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ENGINEER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FDEDEC"/>
          </a:solidFill>
        </p:spPr>
      </p:sp>
      <p:sp>
        <p:nvSpPr>
          <p:cNvPr id="7" name="Text 5"/>
          <p:cNvSpPr txBox="1"/>
          <p:nvPr/>
        </p:nvSpPr>
        <p:spPr>
          <a:xfrm>
            <a:off x="777240" y="1508760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Problem:  Raw text is messy and comes from many channels — dispatch logs, SOPs, social posts.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</p:spPr>
      </p:sp>
      <p:sp>
        <p:nvSpPr>
          <p:cNvPr id="9" name="Text 7"/>
          <p:cNvSpPr txBox="1"/>
          <p:nvPr/>
        </p:nvSpPr>
        <p:spPr>
          <a:xfrm>
            <a:off x="2926080" y="2286000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raw text sources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26080" y="2852928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</p:spPr>
      </p:sp>
      <p:sp>
        <p:nvSpPr>
          <p:cNvPr id="11" name="Text 9"/>
          <p:cNvSpPr txBox="1"/>
          <p:nvPr/>
        </p:nvSpPr>
        <p:spPr>
          <a:xfrm>
            <a:off x="2926080" y="2852928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Remove duplicates &amp; noise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926080" y="3419856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</p:spPr>
      </p:sp>
      <p:sp>
        <p:nvSpPr>
          <p:cNvPr id="13" name="Text 11"/>
          <p:cNvSpPr txBox="1"/>
          <p:nvPr/>
        </p:nvSpPr>
        <p:spPr>
          <a:xfrm>
            <a:off x="2926080" y="3419856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Annotate urgency labels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0" y="3986784"/>
            <a:ext cx="6309360" cy="457200"/>
          </a:xfrm>
          <a:prstGeom prst="roundRect">
            <a:avLst>
              <a:gd name="adj" fmla="val 16000"/>
            </a:avLst>
          </a:prstGeom>
          <a:solidFill>
            <a:srgbClr val="081527"/>
          </a:solidFill>
        </p:spPr>
      </p:sp>
      <p:sp>
        <p:nvSpPr>
          <p:cNvPr id="15" name="Text 13"/>
          <p:cNvSpPr txBox="1"/>
          <p:nvPr/>
        </p:nvSpPr>
        <p:spPr>
          <a:xfrm>
            <a:off x="2926080" y="3986784"/>
            <a:ext cx="6309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 data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0" y="4599432"/>
            <a:ext cx="6309360" cy="502920"/>
          </a:xfrm>
          <a:prstGeom prst="roundRect">
            <a:avLst>
              <a:gd name="adj" fmla="val 14545"/>
            </a:avLst>
          </a:prstGeom>
          <a:solidFill>
            <a:srgbClr val="FFB627"/>
          </a:solidFill>
        </p:spPr>
      </p:sp>
      <p:sp>
        <p:nvSpPr>
          <p:cNvPr id="17" name="Text 15"/>
          <p:cNvSpPr txBox="1"/>
          <p:nvPr/>
        </p:nvSpPr>
        <p:spPr>
          <a:xfrm>
            <a:off x="2926080" y="4599432"/>
            <a:ext cx="63093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CLEAN, ANNOTATED TEXT DATASET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330952"/>
            <a:ext cx="10881360" cy="502920"/>
          </a:xfrm>
          <a:prstGeom prst="roundRect">
            <a:avLst>
              <a:gd name="adj" fmla="val 14545"/>
            </a:avLst>
          </a:prstGeom>
          <a:solidFill>
            <a:srgbClr val="0F3D5C"/>
          </a:solidFill>
        </p:spPr>
      </p:sp>
      <p:sp>
        <p:nvSpPr>
          <p:cNvPr id="19" name="Text 17"/>
          <p:cNvSpPr txBox="1"/>
          <p:nvPr/>
        </p:nvSpPr>
        <p:spPr>
          <a:xfrm>
            <a:off x="822960" y="5330952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 Engineer prepares clean, labeled text for the next stage.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NEW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7772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Does the Vocabulary Make Sense?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852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5394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“everything is totally fine, no problem at all!!! HELP”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53949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Does this look normal? Or could this be sarcasm, a false alarm, or a mislabeled record?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675120" y="1280160"/>
            <a:ext cx="640080" cy="640080"/>
          </a:xfrm>
          <a:prstGeom prst="ellipse">
            <a:avLst/>
          </a:prstGeom>
          <a:solidFill>
            <a:srgbClr val="081527"/>
          </a:solidFill>
        </p:spPr>
      </p:sp>
      <p:sp>
        <p:nvSpPr>
          <p:cNvPr id="8" name="Text 6"/>
          <p:cNvSpPr txBox="1"/>
          <p:nvPr/>
        </p:nvSpPr>
        <p:spPr>
          <a:xfrm>
            <a:off x="6675120" y="12801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4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🔍</a:t>
            </a:r>
            <a:endParaRPr lang="en-US" sz="1540" dirty="0"/>
          </a:p>
        </p:txBody>
      </p:sp>
      <p:sp>
        <p:nvSpPr>
          <p:cNvPr id="9" name="Text 7"/>
          <p:cNvSpPr txBox="1"/>
          <p:nvPr/>
        </p:nvSpPr>
        <p:spPr>
          <a:xfrm>
            <a:off x="7452360" y="1371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EDA ENGINEER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1965960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EDA Engineer explores vocabulary, finds patterns, and checks suspicious or ambiguous phrasing.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</p:spPr>
      </p:sp>
      <p:sp>
        <p:nvSpPr>
          <p:cNvPr id="12" name="Text 10"/>
          <p:cNvSpPr txBox="1"/>
          <p:nvPr/>
        </p:nvSpPr>
        <p:spPr>
          <a:xfrm>
            <a:off x="548640" y="29260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</p:spPr>
      </p:sp>
      <p:sp>
        <p:nvSpPr>
          <p:cNvPr id="14" name="Text 12"/>
          <p:cNvSpPr txBox="1"/>
          <p:nvPr/>
        </p:nvSpPr>
        <p:spPr>
          <a:xfrm>
            <a:off x="3246120" y="29260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Explore Vocabulary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0F2843"/>
          </a:solidFill>
        </p:spPr>
      </p:sp>
      <p:sp>
        <p:nvSpPr>
          <p:cNvPr id="16" name="Text 14"/>
          <p:cNvSpPr txBox="1"/>
          <p:nvPr/>
        </p:nvSpPr>
        <p:spPr>
          <a:xfrm>
            <a:off x="5943600" y="29260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Ambiguity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41080" y="2926080"/>
            <a:ext cx="2606040" cy="594360"/>
          </a:xfrm>
          <a:prstGeom prst="roundRect">
            <a:avLst>
              <a:gd name="adj" fmla="val 12308"/>
            </a:avLst>
          </a:prstGeom>
          <a:solidFill>
            <a:srgbClr val="FFB627"/>
          </a:solidFill>
        </p:spPr>
      </p:sp>
      <p:sp>
        <p:nvSpPr>
          <p:cNvPr id="18" name="Text 16"/>
          <p:cNvSpPr txBox="1"/>
          <p:nvPr/>
        </p:nvSpPr>
        <p:spPr>
          <a:xfrm>
            <a:off x="8641080" y="292608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Verified Signal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THE ROLE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our data is clean and verified. What should we do next?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685800" cy="685800"/>
          </a:xfrm>
          <a:prstGeom prst="ellipse">
            <a:avLst/>
          </a:prstGeom>
          <a:solidFill>
            <a:srgbClr val="081527"/>
          </a:solidFill>
        </p:spPr>
      </p:sp>
      <p:sp>
        <p:nvSpPr>
          <p:cNvPr id="5" name="Text 3"/>
          <p:cNvSpPr txBox="1"/>
          <p:nvPr/>
        </p:nvSpPr>
        <p:spPr>
          <a:xfrm>
            <a:off x="548640" y="10515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🧠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1887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NLP ENGINEER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</p:spPr>
      </p:sp>
      <p:sp>
        <p:nvSpPr>
          <p:cNvPr id="8" name="Text 6"/>
          <p:cNvSpPr txBox="1"/>
          <p:nvPr/>
        </p:nvSpPr>
        <p:spPr>
          <a:xfrm>
            <a:off x="548640" y="192024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Message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28346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</p:spPr>
      </p:sp>
      <p:sp>
        <p:nvSpPr>
          <p:cNvPr id="10" name="Text 8"/>
          <p:cNvSpPr txBox="1"/>
          <p:nvPr/>
        </p:nvSpPr>
        <p:spPr>
          <a:xfrm>
            <a:off x="548640" y="2542032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Vocabulary Signals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103120"/>
            <a:ext cx="548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06240" y="19202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081527"/>
          </a:solidFill>
        </p:spPr>
      </p:sp>
      <p:sp>
        <p:nvSpPr>
          <p:cNvPr id="13" name="Text 11"/>
          <p:cNvSpPr txBox="1"/>
          <p:nvPr/>
        </p:nvSpPr>
        <p:spPr>
          <a:xfrm>
            <a:off x="4206240" y="1920240"/>
            <a:ext cx="31089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 MODEL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B6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(Classifier + NER)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2331720"/>
            <a:ext cx="457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192024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A9D8F"/>
          </a:solidFill>
        </p:spPr>
      </p:sp>
      <p:sp>
        <p:nvSpPr>
          <p:cNvPr id="16" name="Text 14"/>
          <p:cNvSpPr txBox="1"/>
          <p:nvPr/>
        </p:nvSpPr>
        <p:spPr>
          <a:xfrm>
            <a:off x="8138160" y="1920240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Urgency: Low/Mod/Severe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542032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F4A300"/>
          </a:solidFill>
        </p:spPr>
      </p:sp>
      <p:sp>
        <p:nvSpPr>
          <p:cNvPr id="18" name="Text 16"/>
          <p:cNvSpPr txBox="1"/>
          <p:nvPr/>
        </p:nvSpPr>
        <p:spPr>
          <a:xfrm>
            <a:off x="8138160" y="2542032"/>
            <a:ext cx="3474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Entities: Location, Resource, Headcount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0F3D5C"/>
          </a:solidFill>
        </p:spPr>
      </p:sp>
      <p:sp>
        <p:nvSpPr>
          <p:cNvPr id="20" name="Text 18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NLP Engineer trains the pipeline using past data so it can read a new message.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WE TRUST IT?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pipeline is 100% correct on training logs. Should we trust it immediately?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2A9D8F"/>
          </a:solidFill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TRAINING DATA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already seen 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0" y="118872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4A300"/>
          </a:solidFill>
        </p:spPr>
      </p:sp>
      <p:sp>
        <p:nvSpPr>
          <p:cNvPr id="7" name="Text 5"/>
          <p:cNvSpPr txBox="1"/>
          <p:nvPr/>
        </p:nvSpPr>
        <p:spPr>
          <a:xfrm>
            <a:off x="5669280" y="1188720"/>
            <a:ext cx="48463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UNSEEN TEST LOGS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has never seen it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E63946"/>
          </a:solidFill>
        </p:spPr>
      </p:sp>
      <p:sp>
        <p:nvSpPr>
          <p:cNvPr id="9" name="Text 7"/>
          <p:cNvSpPr txBox="1"/>
          <p:nvPr/>
        </p:nvSpPr>
        <p:spPr>
          <a:xfrm>
            <a:off x="548640" y="2148840"/>
            <a:ext cx="27432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NO.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566160" y="2240280"/>
            <a:ext cx="548640" cy="548640"/>
          </a:xfrm>
          <a:prstGeom prst="ellipse">
            <a:avLst/>
          </a:prstGeom>
          <a:solidFill>
            <a:srgbClr val="081527"/>
          </a:solidFill>
        </p:spPr>
      </p:sp>
      <p:sp>
        <p:nvSpPr>
          <p:cNvPr id="11" name="Text 9"/>
          <p:cNvSpPr txBox="1"/>
          <p:nvPr/>
        </p:nvSpPr>
        <p:spPr>
          <a:xfrm>
            <a:off x="3566160" y="224028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28600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EVALUATION ENGINEER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743200"/>
            <a:ext cx="78638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the pipeline on unseen logs to check whether it really learned the pattern — or only memorized the training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</p:spPr>
      </p:sp>
      <p:sp>
        <p:nvSpPr>
          <p:cNvPr id="15" name="Text 13"/>
          <p:cNvSpPr txBox="1"/>
          <p:nvPr/>
        </p:nvSpPr>
        <p:spPr>
          <a:xfrm>
            <a:off x="777240" y="35204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Precision / Recall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840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many urgent messages were caught correctly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4290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</p:spPr>
      </p:sp>
      <p:sp>
        <p:nvSpPr>
          <p:cNvPr id="18" name="Text 16"/>
          <p:cNvSpPr txBox="1"/>
          <p:nvPr/>
        </p:nvSpPr>
        <p:spPr>
          <a:xfrm>
            <a:off x="6263640" y="352044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152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Overconfidence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384048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is very confident but wrong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548640" y="1325880"/>
            <a:ext cx="11064240" cy="4617720"/>
          </a:xfrm>
          <a:prstGeom prst="roundRect">
            <a:avLst>
              <a:gd name="adj" fmla="val 3168"/>
            </a:avLst>
          </a:prstGeom>
          <a:solidFill>
            <a:srgbClr val="FFFFFF"/>
          </a:solidFill>
        </p:spPr>
        <p:txBody>
          <a:bodyPr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685800"/>
          </a:xfrm>
          <a:prstGeom prst="roundRect">
            <a:avLst>
              <a:gd name="adj" fmla="val 21333"/>
            </a:avLst>
          </a:prstGeom>
          <a:solidFill>
            <a:srgbClr val="0F3D5C"/>
          </a:solidFill>
        </p:spPr>
        <p:txBody>
          <a:bodyPr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🚨 Disaster Response Command Center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1042416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Emergency Message Input: "8 people are trapped in Zone 2. Water is rising rapidly. Send a rescue boat immediately."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2423160" cy="960120"/>
          </a:xfrm>
          <a:prstGeom prst="roundRect">
            <a:avLst>
              <a:gd name="adj" fmla="val 11429"/>
            </a:avLst>
          </a:prstGeom>
          <a:solidFill>
            <a:srgbClr val="EDF2F7"/>
          </a:solidFill>
        </p:spPr>
      </p:sp>
      <p:sp>
        <p:nvSpPr>
          <p:cNvPr id="11" name="Text 9"/>
          <p:cNvSpPr/>
          <p:nvPr/>
        </p:nvSpPr>
        <p:spPr>
          <a:xfrm>
            <a:off x="1005840" y="32461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📍 LOCATION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05840" y="352044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Zone 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29000" y="3154680"/>
            <a:ext cx="2423160" cy="960120"/>
          </a:xfrm>
          <a:prstGeom prst="roundRect">
            <a:avLst>
              <a:gd name="adj" fmla="val 11429"/>
            </a:avLst>
          </a:prstGeom>
          <a:solidFill>
            <a:srgbClr val="EDF2F7"/>
          </a:solidFill>
        </p:spPr>
      </p:sp>
      <p:sp>
        <p:nvSpPr>
          <p:cNvPr id="14" name="Text 12"/>
          <p:cNvSpPr/>
          <p:nvPr/>
        </p:nvSpPr>
        <p:spPr>
          <a:xfrm>
            <a:off x="3566160" y="32461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👥 PEOPLE AFFECTED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989320" y="3154680"/>
            <a:ext cx="2423160" cy="960120"/>
          </a:xfrm>
          <a:prstGeom prst="roundRect">
            <a:avLst>
              <a:gd name="adj" fmla="val 11429"/>
            </a:avLst>
          </a:prstGeom>
          <a:solidFill>
            <a:srgbClr val="EDF2F7"/>
          </a:solidFill>
        </p:spPr>
      </p:sp>
      <p:sp>
        <p:nvSpPr>
          <p:cNvPr id="17" name="Text 15"/>
          <p:cNvSpPr/>
          <p:nvPr/>
        </p:nvSpPr>
        <p:spPr>
          <a:xfrm>
            <a:off x="6126480" y="32461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PREDICTED URGENCY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26480" y="352044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549640" y="3154680"/>
            <a:ext cx="2423160" cy="960120"/>
          </a:xfrm>
          <a:prstGeom prst="roundRect">
            <a:avLst>
              <a:gd name="adj" fmla="val 11429"/>
            </a:avLst>
          </a:prstGeom>
          <a:solidFill>
            <a:srgbClr val="EDF2F7"/>
          </a:solidFill>
        </p:spPr>
      </p:sp>
      <p:sp>
        <p:nvSpPr>
          <p:cNvPr id="20" name="Text 18"/>
          <p:cNvSpPr/>
          <p:nvPr/>
        </p:nvSpPr>
        <p:spPr>
          <a:xfrm>
            <a:off x="8686800" y="3246120"/>
            <a:ext cx="21488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SIMILARITY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686800" y="3520440"/>
            <a:ext cx="2148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63.44%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4297680"/>
            <a:ext cx="4937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🚑 RESOURCE REQUIRED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4572000"/>
            <a:ext cx="4937760" cy="502920"/>
          </a:xfrm>
          <a:prstGeom prst="roundRect">
            <a:avLst>
              <a:gd name="adj" fmla="val 18182"/>
            </a:avLst>
          </a:prstGeom>
          <a:solidFill>
            <a:srgbClr val="E6F3F1"/>
          </a:solidFill>
        </p:spPr>
      </p:sp>
      <p:sp>
        <p:nvSpPr>
          <p:cNvPr id="24" name="Text 22"/>
          <p:cNvSpPr/>
          <p:nvPr/>
        </p:nvSpPr>
        <p:spPr>
          <a:xfrm>
            <a:off x="1051560" y="4572000"/>
            <a:ext cx="45720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7A7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rescue boat, boat, water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89320" y="4297680"/>
            <a:ext cx="5029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B6B8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🤖 AI RECOMMENDED ACTION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4572000"/>
            <a:ext cx="5029200" cy="502920"/>
          </a:xfrm>
          <a:prstGeom prst="roundRect">
            <a:avLst>
              <a:gd name="adj" fmla="val 18182"/>
            </a:avLst>
          </a:prstGeom>
          <a:solidFill>
            <a:srgbClr val="FFF6E5"/>
          </a:solidFill>
        </p:spPr>
      </p:sp>
      <p:sp>
        <p:nvSpPr>
          <p:cNvPr id="27" name="Text 25"/>
          <p:cNvSpPr/>
          <p:nvPr/>
        </p:nvSpPr>
        <p:spPr>
          <a:xfrm>
            <a:off x="6172200" y="4572000"/>
            <a:ext cx="46634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5790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Prioritize rescue operation immediately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68680" y="5257800"/>
            <a:ext cx="10195560" cy="868680"/>
          </a:xfrm>
          <a:prstGeom prst="roundRect">
            <a:avLst>
              <a:gd name="adj" fmla="val 12632"/>
            </a:avLst>
          </a:prstGeom>
          <a:solidFill>
            <a:srgbClr val="081527"/>
          </a:solidFill>
        </p:spPr>
      </p:sp>
      <p:sp>
        <p:nvSpPr>
          <p:cNvPr id="29" name="Text 27"/>
          <p:cNvSpPr/>
          <p:nvPr/>
        </p:nvSpPr>
        <p:spPr>
          <a:xfrm>
            <a:off x="1097280" y="5257800"/>
            <a:ext cx="969264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BBD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the real interface built in app.py using Streamlit — wired directly to the same trained model you just saw predict live.</a:t>
            </a:r>
            <a:endParaRPr lang="en-US" sz="1150" dirty="0"/>
          </a:p>
        </p:txBody>
      </p:sp>
      <p:sp>
        <p:nvSpPr>
          <p:cNvPr id="33" name="Text 6"/>
          <p:cNvSpPr txBox="1"/>
          <p:nvPr/>
        </p:nvSpPr>
        <p:spPr>
          <a:xfrm>
            <a:off x="548640" y="694055"/>
            <a:ext cx="4572000" cy="619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8152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INTEGRATION ENGINEER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3559</Words>
  <Application>WPS Presentation</Application>
  <PresentationFormat>On-screen Show (16:9)</PresentationFormat>
  <Paragraphs>257</Paragraphs>
  <Slides>15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Nivatha selvan</cp:lastModifiedBy>
  <cp:revision>13</cp:revision>
  <dcterms:created xsi:type="dcterms:W3CDTF">2026-08-27T10:16:00Z</dcterms:created>
  <dcterms:modified xsi:type="dcterms:W3CDTF">2026-09-09T02:10:44Z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AEEDAE0637B34166B546175C8B1B9B76_12</vt:lpwstr>
  </property>
</Properties>
</file>